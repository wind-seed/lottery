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52568d09174593" /><Relationship Type="http://schemas.openxmlformats.org/officeDocument/2006/relationships/extended-properties" Target="/docProps/app.xml" Id="R1fcbf382d0d7406a" /><Relationship Type="http://schemas.openxmlformats.org/officeDocument/2006/relationships/officeDocument" Target="/ppt/presentation.xml" Id="Rd1fcef218615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1cf83d5c54442e"/>
  </p:sldMasterIdLst>
  <p:notesMasterIdLst>
    <p:notesMasterId xmlns:r="http://schemas.openxmlformats.org/officeDocument/2006/relationships" r:id="R4d50054c620545da"/>
  </p:notesMasterIdLst>
  <p:sldIdLst>
    <p:sldId xmlns:r="http://schemas.openxmlformats.org/officeDocument/2006/relationships" id="256" r:id="R07d49d1fb6e045b5"/>
    <p:sldId xmlns:r="http://schemas.openxmlformats.org/officeDocument/2006/relationships" id="257" r:id="Rd926a40a4cc941d1"/>
    <p:sldId xmlns:r="http://schemas.openxmlformats.org/officeDocument/2006/relationships" id="258" r:id="R58133ee933024a6e"/>
    <p:sldId xmlns:r="http://schemas.openxmlformats.org/officeDocument/2006/relationships" id="259" r:id="R0afc91a25e394ba0"/>
    <p:sldId xmlns:r="http://schemas.openxmlformats.org/officeDocument/2006/relationships" id="260" r:id="Rb8b2c40d57d04955"/>
    <p:sldId xmlns:r="http://schemas.openxmlformats.org/officeDocument/2006/relationships" id="261" r:id="Rf8623c44fa2c4611"/>
    <p:sldId xmlns:r="http://schemas.openxmlformats.org/officeDocument/2006/relationships" id="262" r:id="R2ef86578c1e24372"/>
    <p:sldId xmlns:r="http://schemas.openxmlformats.org/officeDocument/2006/relationships" id="263" r:id="R464fed2f4aa4435a"/>
    <p:sldId xmlns:r="http://schemas.openxmlformats.org/officeDocument/2006/relationships" id="264" r:id="R5461df45cf424911"/>
    <p:sldId xmlns:r="http://schemas.openxmlformats.org/officeDocument/2006/relationships" id="265" r:id="R1fef0893a57f4e91"/>
    <p:sldId xmlns:r="http://schemas.openxmlformats.org/officeDocument/2006/relationships" id="266" r:id="Rfa4bbcf26a184463"/>
    <p:sldId xmlns:r="http://schemas.openxmlformats.org/officeDocument/2006/relationships" id="267" r:id="R21ca0028431044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0b6bd4f3714dff" /><Relationship Type="http://schemas.openxmlformats.org/officeDocument/2006/relationships/slideMaster" Target="/ppt/slideMasters/slideMaster1.xml" Id="R971cf83d5c54442e" /><Relationship Type="http://schemas.openxmlformats.org/officeDocument/2006/relationships/notesMaster" Target="/ppt/notesMasters/notesMaster1.xml" Id="R4d50054c620545da" /><Relationship Type="http://schemas.openxmlformats.org/officeDocument/2006/relationships/presProps" Target="/ppt/presProps.xml" Id="R41848f046b664c83" /><Relationship Type="http://schemas.openxmlformats.org/officeDocument/2006/relationships/tableStyles" Target="/ppt/tableStyles.xml" Id="R129356854ddc410e" /><Relationship Type="http://schemas.openxmlformats.org/officeDocument/2006/relationships/slide" Target="/ppt/slides/slide1.xml" Id="R07d49d1fb6e045b5" /><Relationship Type="http://schemas.openxmlformats.org/officeDocument/2006/relationships/slide" Target="/ppt/slides/slide2.xml" Id="Rd926a40a4cc941d1" /><Relationship Type="http://schemas.openxmlformats.org/officeDocument/2006/relationships/slide" Target="/ppt/slides/slide3.xml" Id="R58133ee933024a6e" /><Relationship Type="http://schemas.openxmlformats.org/officeDocument/2006/relationships/slide" Target="/ppt/slides/slide4.xml" Id="R0afc91a25e394ba0" /><Relationship Type="http://schemas.openxmlformats.org/officeDocument/2006/relationships/slide" Target="/ppt/slides/slide5.xml" Id="Rb8b2c40d57d04955" /><Relationship Type="http://schemas.openxmlformats.org/officeDocument/2006/relationships/slide" Target="/ppt/slides/slide6.xml" Id="Rf8623c44fa2c4611" /><Relationship Type="http://schemas.openxmlformats.org/officeDocument/2006/relationships/slide" Target="/ppt/slides/slide7.xml" Id="R2ef86578c1e24372" /><Relationship Type="http://schemas.openxmlformats.org/officeDocument/2006/relationships/slide" Target="/ppt/slides/slide8.xml" Id="R464fed2f4aa4435a" /><Relationship Type="http://schemas.openxmlformats.org/officeDocument/2006/relationships/slide" Target="/ppt/slides/slide9.xml" Id="R5461df45cf424911" /><Relationship Type="http://schemas.openxmlformats.org/officeDocument/2006/relationships/slide" Target="/ppt/slides/slide10.xml" Id="R1fef0893a57f4e91" /><Relationship Type="http://schemas.openxmlformats.org/officeDocument/2006/relationships/slide" Target="/ppt/slides/slide11.xml" Id="Rfa4bbcf26a184463" /><Relationship Type="http://schemas.openxmlformats.org/officeDocument/2006/relationships/slide" Target="/ppt/slides/slide12.xml" Id="R21ca0028431044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72dbac9d8f49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8805fe18764b16" /><Relationship Type="http://schemas.openxmlformats.org/officeDocument/2006/relationships/notesMaster" Target="/ppt/notesMasters/notesMaster1.xml" Id="Rab2ff449e8ef48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81f60892514cf6" /><Relationship Type="http://schemas.openxmlformats.org/officeDocument/2006/relationships/notesMaster" Target="/ppt/notesMasters/notesMaster1.xml" Id="R7178a8482d024e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ce858feebe42f8" /><Relationship Type="http://schemas.openxmlformats.org/officeDocument/2006/relationships/notesMaster" Target="/ppt/notesMasters/notesMaster1.xml" Id="R34c23550c66943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fc62392cff4c87" /><Relationship Type="http://schemas.openxmlformats.org/officeDocument/2006/relationships/notesMaster" Target="/ppt/notesMasters/notesMaster1.xml" Id="R2c0b450f533d4b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eebae8ac4a4e95" /><Relationship Type="http://schemas.openxmlformats.org/officeDocument/2006/relationships/notesMaster" Target="/ppt/notesMasters/notesMaster1.xml" Id="R63a1f3796b4741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5c6a8bf7334ea6" /><Relationship Type="http://schemas.openxmlformats.org/officeDocument/2006/relationships/notesMaster" Target="/ppt/notesMasters/notesMaster1.xml" Id="R58c3e2caa37740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8193dff5e5452c" /><Relationship Type="http://schemas.openxmlformats.org/officeDocument/2006/relationships/notesMaster" Target="/ppt/notesMasters/notesMaster1.xml" Id="R2d66c42c5f264c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9610a210334d41" /><Relationship Type="http://schemas.openxmlformats.org/officeDocument/2006/relationships/notesMaster" Target="/ppt/notesMasters/notesMaster1.xml" Id="R4f4bc7d8a18a44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f876dbc61041ef" /><Relationship Type="http://schemas.openxmlformats.org/officeDocument/2006/relationships/notesMaster" Target="/ppt/notesMasters/notesMaster1.xml" Id="R7c3721e48c6742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68288f637f4f80" /><Relationship Type="http://schemas.openxmlformats.org/officeDocument/2006/relationships/notesMaster" Target="/ppt/notesMasters/notesMaster1.xml" Id="R8e93de4e76ac4c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d821202edd4077" /><Relationship Type="http://schemas.openxmlformats.org/officeDocument/2006/relationships/notesMaster" Target="/ppt/notesMasters/notesMaster1.xml" Id="Raae6bc0a146a4e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3895289f4c418a" /><Relationship Type="http://schemas.openxmlformats.org/officeDocument/2006/relationships/notesMaster" Target="/ppt/notesMasters/notesMaster1.xml" Id="Rf37719d829424e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D:/java/Lottery/pom.xml</a:t>
            </a:r>
          </a:p>
          <a:p xmlns:a="http://schemas.openxmlformats.org/drawingml/2006/main">
            <a:r>
              <a:t>D:/java/Lottery/PROJECT-FILES-GUIDE.md</a:t>
            </a:r>
          </a:p>
          <a:p xmlns:a="http://schemas.openxmlformats.org/drawingml/2006/main">
            <a:r>
              <a:t>D:/java/Lottery/PROJECT-INTERVIEW-QA.md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D:/java/Lottery/PROJECT-INTERVIEW-QA.md</a:t>
            </a:r>
          </a:p>
          <a:p xmlns:a="http://schemas.openxmlformats.org/drawingml/2006/main">
            <a:r>
              <a:t>D:/java/Lottery/README-LOCAL.md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D:/java/Lottery/pom.xml</a:t>
            </a:r>
          </a:p>
          <a:p xmlns:a="http://schemas.openxmlformats.org/drawingml/2006/main">
            <a:r>
              <a:t>D:/java/Lottery/PROJECT-FILES-GUIDE.md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D:/java/Lottery/pom.xml</a:t>
            </a:r>
          </a:p>
          <a:p xmlns:a="http://schemas.openxmlformats.org/drawingml/2006/main">
            <a:r>
              <a:t>D:/java/Lottery/PROJECT-FILES-GUIDE.md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D:/java/Lottery/lottery-application/src/main/java/cn/itedus/lottery/application/process/draw/impl/ActivityDrawProcessImpl.java</a:t>
            </a:r>
          </a:p>
          <a:p xmlns:a="http://schemas.openxmlformats.org/drawingml/2006/main">
            <a:r>
              <a:t>D:/java/Lottery/PROJECT-INTERVIEW-QA.md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D:/java/Lottery/lottery-domain/src/main/java/cn/itedus/lottery/domain/strategy/service/algorithm/impl/SingleRateRandomDrawAlgorithm.java</a:t>
            </a:r>
          </a:p>
          <a:p xmlns:a="http://schemas.openxmlformats.org/drawingml/2006/main">
            <a:r>
              <a:t>D:/java/Lottery/lottery-domain/src/main/java/cn/itedus/lottery/domain/strategy/service/algorithm/impl/EntiretyRateRandomDrawAlgorithm.java</a:t>
            </a:r>
          </a:p>
          <a:p xmlns:a="http://schemas.openxmlformats.org/drawingml/2006/main">
            <a:r>
              <a:t>D:/java/Lottery/lottery-domain/src/main/java/cn/itedus/lottery/domain/strategy/service/draw/impl/DrawExecImpl.java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D:/java/Lottery/lottery-domain/src/main/java/cn/itedus/lottery/domain/activity/service/stateflow</a:t>
            </a:r>
          </a:p>
          <a:p xmlns:a="http://schemas.openxmlformats.org/drawingml/2006/main">
            <a:r>
              <a:t>D:/java/Lottery/lottery-common/src/main/java/cn/itedus/lottery/common/Constants.java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D:/java/Lottery/lottery-domain/src/main/java/cn/itedus/lottery/domain/rule/service/engine/impl/RuleEngineHandle.java</a:t>
            </a:r>
          </a:p>
          <a:p xmlns:a="http://schemas.openxmlformats.org/drawingml/2006/main">
            <a:r>
              <a:t>D:/java/Lottery/lottery-domain/src/main/java/cn/itedus/lottery/domain/rule/service/logic/impl/UserAgeFilter.java</a:t>
            </a:r>
          </a:p>
          <a:p xmlns:a="http://schemas.openxmlformats.org/drawingml/2006/main">
            <a:r>
              <a:t>D:/java/Lottery/lottery-domain/src/main/java/cn/itedus/lottery/domain/rule/service/logic/impl/UserGenderFilter.java</a:t>
            </a:r>
          </a:p>
          <a:p xmlns:a="http://schemas.openxmlformats.org/drawingml/2006/main">
            <a:r>
              <a:t>D:/java/Lottery/doc/assets/sql/lottery.sql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D:/java/Lottery/lottery-infrastructure/src/main/java/cn/itedus/lottery/infrastructure/repository/ActivityRepository.java</a:t>
            </a:r>
          </a:p>
          <a:p xmlns:a="http://schemas.openxmlformats.org/drawingml/2006/main">
            <a:r>
              <a:t>D:/java/Lottery/lottery-domain/src/main/java/cn/itedus/lottery/domain/activity/service/partake/BaseActivityPartake.java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D:/java/Lottery/db-router-spring-boot-starter</a:t>
            </a:r>
          </a:p>
          <a:p xmlns:a="http://schemas.openxmlformats.org/drawingml/2006/main">
            <a:r>
              <a:t>D:/java/Lottery/lottery-application/src/main/java/cn/itedus/lottery/application/mq</a:t>
            </a:r>
          </a:p>
          <a:p xmlns:a="http://schemas.openxmlformats.org/drawingml/2006/main">
            <a:r>
              <a:t>D:/java/Lottery/lottery-application/src/main/java/cn/itedus/lottery/application/worker/LotteryXxlJob.java</a:t>
            </a:r>
          </a:p>
          <a:p xmlns:a="http://schemas.openxmlformats.org/drawingml/2006/main">
            <a:r>
              <a:t>D:/java/Lottery/doc/assets/sql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D:/java/Lottery/scripts</a:t>
            </a:r>
          </a:p>
          <a:p xmlns:a="http://schemas.openxmlformats.org/drawingml/2006/main">
            <a:r>
              <a:t>D:/java/Lottery/README-LOCAL.md</a:t>
            </a:r>
          </a:p>
          <a:p xmlns:a="http://schemas.openxmlformats.org/drawingml/2006/main">
            <a:r>
              <a:t>D:/java/Lottery/PROJECT-FILES-GUIDE.md</a:t>
            </a:r>
          </a:p>
          <a:p xmlns:a="http://schemas.openxmlformats.org/drawingml/2006/main">
            <a:r>
              <a:t>D:/java/Lottery/PROJECT-INTERVIEW-QA.md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D:/java/Lottery/PROJECT-INTERVIEW-QA.md</a:t>
            </a:r>
          </a:p>
          <a:p xmlns:a="http://schemas.openxmlformats.org/drawingml/2006/main">
            <a:r>
              <a:t>D:/java/Lottery/PROJECT-FILES-GUIDE.md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242bfc12e41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7141e519e74e0c" /><Relationship Type="http://schemas.openxmlformats.org/officeDocument/2006/relationships/slideLayout" Target="/ppt/slideLayouts/slideLayout1.xml" Id="Re0f9955b7dff43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f9955b7dff43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6fd5cc5ef4fd9" /><Relationship Type="http://schemas.openxmlformats.org/officeDocument/2006/relationships/notesSlide" Target="/ppt/notesSlides/notesSlide1.xml" Id="R2a9fd02824c044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1ca6bf0ad40c7" /><Relationship Type="http://schemas.openxmlformats.org/officeDocument/2006/relationships/notesSlide" Target="/ppt/notesSlides/notesSlide2.xml" Id="R153412a5136840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330209a834bfa" /><Relationship Type="http://schemas.openxmlformats.org/officeDocument/2006/relationships/notesSlide" Target="/ppt/notesSlides/notesSlide3.xml" Id="R616bd5a71e4247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a6ba86f614b12" /><Relationship Type="http://schemas.openxmlformats.org/officeDocument/2006/relationships/notesSlide" Target="/ppt/notesSlides/notesSlide4.xml" Id="R4ce6a477dbfe49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3a7bbd0d64cfa" /><Relationship Type="http://schemas.openxmlformats.org/officeDocument/2006/relationships/notesSlide" Target="/ppt/notesSlides/notesSlide5.xml" Id="R03426694d5cd40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452e3287b42f2" /><Relationship Type="http://schemas.openxmlformats.org/officeDocument/2006/relationships/notesSlide" Target="/ppt/notesSlides/notesSlide6.xml" Id="R8d2179b7776148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62a0717484751" /><Relationship Type="http://schemas.openxmlformats.org/officeDocument/2006/relationships/notesSlide" Target="/ppt/notesSlides/notesSlide7.xml" Id="R4306333e6e1a4d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ba00196204555" /><Relationship Type="http://schemas.openxmlformats.org/officeDocument/2006/relationships/notesSlide" Target="/ppt/notesSlides/notesSlide8.xml" Id="R1a6db11eb9c74f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befe4343d4181" /><Relationship Type="http://schemas.openxmlformats.org/officeDocument/2006/relationships/notesSlide" Target="/ppt/notesSlides/notesSlide9.xml" Id="R4531d8586a1846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7facf59974c16" /><Relationship Type="http://schemas.openxmlformats.org/officeDocument/2006/relationships/notesSlide" Target="/ppt/notesSlides/notesSlide10.xml" Id="Rae9126dd560842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0344fea504929" /><Relationship Type="http://schemas.openxmlformats.org/officeDocument/2006/relationships/notesSlide" Target="/ppt/notesSlides/notesSlide11.xml" Id="Ra9aac010402b4a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2e1e6b2d3400e" /><Relationship Type="http://schemas.openxmlformats.org/officeDocument/2006/relationships/notesSlide" Target="/ppt/notesSlides/notesSlide12.xml" Id="R3c62248e77f944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5BC66-2C7B-4186-BF76-8601DEC0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20242B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C2FAD53-54B9-475C-870D-32F89234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Lottery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CA64BDC-6937-43EA-B0F2-9C5A4866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抽奖系统项目介绍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E55213A-5409-4B35-AFBB-B328CEA3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26E"/>
                </a:solidFill>
              </a:defRPr>
            </a:pPr>
            <a:r>
              <a:rPr sz="1650" b="0">
                <a:solidFill>
                  <a:srgbClr val="5B626E"/>
                </a:solidFill>
              </a:rPr>
              <a:t>面试讲解版 | Java 8 · Spring Boot · DDD · Redis · MySQL · Kafka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7A3734-2C5C-4F80-A1A4-8B3BF51D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核心定位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7BC239-1DC2-4E7C-9ADA-A87EC1FD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面向营销活动的抽奖与发奖系统，重点体现工程分层、抽奖算法、库存并发、规则引擎和最终一致性。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00869-EB91-45CE-8E2A-10C9BC47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3048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可运行 UI + 后端接口 + 数据库脚本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F52ED4-158F-40E9-889C-6A9895D0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11853F-B484-4DD6-8BBE-B648E685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0900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B63E05C-4E74-49FD-97FD-B06A6732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80FE4B5-7E46-47F3-A575-055C20E2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用一句话把项目讲清楚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1476C-941E-4AF0-9B5F-0D1D1294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94859DE-BDEE-4469-8B54-507309B1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94B47CB-AB00-4567-94CA-15C50605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971042-7FD4-4A86-8138-B069E73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我会把这个项目介绍成一个“营销抽奖中台”的雏形，而不是普通 CRUD。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527E8-96B0-43B0-8ED5-E79ED488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375536-55B4-4987-901F-CF7F5C73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90875"/>
            <a:ext cx="906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业务闭环：活动配置、用户参与、概率抽奖、中奖发奖、任务补偿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C110D-3D4F-46EC-A4A0-9E4EC937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33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D46B14-D849-4327-A91C-4E70C7F5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57625"/>
            <a:ext cx="906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技术闭环：DDD 分层、Redis 扣库存、MySQL 分库分表、Kafka 解耦、XXL-Job 扫描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7217C-E01C-448C-A745-E5B3E6AD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00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77A2BF6-17D9-4591-94A1-5B8C3BC5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24375"/>
            <a:ext cx="906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面试重点：我能讲清楚系统为什么这样拆、并发风险在哪里、生产环境怎么继续优化</a:t>
            </a:r>
          </a:p>
        </p:txBody>
      </p:sp>
    </p:spTree>
    <p:extLst>
      <p:ext uri="{BB962C8B-B14F-4D97-AF65-F5344CB8AC3E}">
        <p14:creationId xmlns:p14="http://schemas.microsoft.com/office/powerpoint/2010/main" val="1362318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323120D-DA46-43CA-85F5-84A60DAD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E8DC404-1D21-4609-96F4-6B34A8C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系统采用分层架构承载抽奖主链路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F7D1A-8FFC-4A00-AE10-7403D0FE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4736FF2-585E-4B90-A657-994C3303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640E3E-D525-4D05-9125-FB6F1E7D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3A344-A23D-459A-A09E-F70B3359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287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13918F-9EF5-4FFB-813B-8CC70BE1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接口层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5172C1-6D12-4AB3-8A20-BB11A311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525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HTTP API / Dubbo Facade / 本地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2A59E-2B1D-420B-98A2-E2A37CAC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295C7E-5CE7-4508-9C87-811C1588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24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应用层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EC2A790-CA92-40B4-B341-FCE1A37A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335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抽奖流程编排 / MQ 发送 / 定时任务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2E042-ADCF-44F1-AE83-B4EBB1CF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DD482BC-4A02-4DBA-89A2-0412FD51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领域层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190FDB0-7FFC-45AA-AB9F-A9FE6E4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活动 / 策略 / 规则 / 奖品核心业务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9A835-6277-46F5-A275-05E56559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16DB5CB-A9C5-417B-93D6-960A243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基础设施层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78F66E2-3F8E-4584-A9A0-70469238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956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MyBatis / Repository / Redis / DAO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BBC9F-0F5E-4FE2-B7EF-DE33735E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31F795E-CC68-42ED-AAA2-4272E67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数据与中间件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1009F45-1A45-46BA-946A-B7CBD05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767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MySQL 分库分表 / Redis / Kafka / XXL-Job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521334-FF40-4A7F-B659-E4565000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26E"/>
                </a:solidFill>
              </a:defRPr>
            </a:pPr>
            <a:r>
              <a:rPr sz="1500" b="1">
                <a:solidFill>
                  <a:srgbClr val="5B626E"/>
                </a:solidFill>
              </a:rPr>
              <a:t>运行入口：lottery-interfaces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17E0AD6-025B-4105-997A-1419F37E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26E"/>
                </a:solidFill>
              </a:defRPr>
            </a:pPr>
            <a:r>
              <a:rPr sz="1500" b="1">
                <a:solidFill>
                  <a:srgbClr val="5B626E"/>
                </a:solidFill>
              </a:rPr>
              <a:t>核心规则沉淀：lottery-domain</a:t>
            </a:r>
          </a:p>
        </p:txBody>
      </p:sp>
    </p:spTree>
    <p:extLst>
      <p:ext uri="{BB962C8B-B14F-4D97-AF65-F5344CB8AC3E}">
        <p14:creationId xmlns:p14="http://schemas.microsoft.com/office/powerpoint/2010/main" val="255896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9EA4B99-ECBB-4089-A99E-2CF06570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DB76FA1-A6F7-401E-B249-27516A5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多模块拆分让职责边界更清楚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4173D-A69F-4ABE-ACAE-577A9B30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DC3D4F-CB7B-47A2-B0CF-84EB2859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3410D8-EC68-403F-BD18-18864B59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D36A7-B8CF-40B6-9B2D-C9ABDB90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619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8CF105-2231-40EA-AC27-59EAA189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lottery-interfaces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BA659F-1CF4-4444-8141-9E6927F5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98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启动入口、HTTP API、Dubbo 实现、本地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5FAA5-476F-418C-A6E6-ED40BA2A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4619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C959486-BB77-4934-BC6C-8234527B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lottery-application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7EA3EAD-9382-426A-A1F0-4859214D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98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参与活动、抽奖、发奖、MQ 的流程编排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2CD86-158F-4CD3-A43D-FB17C2D9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4619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250AB3-E4D7-4CC3-85EF-E9B411AC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lottery-domain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DC863A3-E454-4A60-BF0E-5F31A687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337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活动状态机、抽奖算法、规则树、奖品发放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FBAA2-E358-48FD-9004-6484F238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76575"/>
            <a:ext cx="4619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9A5F28-98A3-4A8F-9447-1A4E2DB7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lottery-infrastructure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B4C7EED-8497-4641-AA00-F71EF390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337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Repository、DAO、PO、Redis 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7C9F3-6032-4EAD-8519-70DA3D1C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4619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6B6CFCE-63AE-4AA6-AB4E-C153657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lottery-rpc / common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A40FD97-53A3-4FE1-BEE5-3F7E7133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远程契约、DTO、统一返回、全局枚举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126FC-7F3D-4B3F-87D0-6613B048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00525"/>
            <a:ext cx="4619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FF2226F-3957-4D79-85A1-D74B236B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43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db-router-starter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02AD7A6-E029-446A-AA8B-74EC053E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577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自定义分库分表 Starter</a:t>
            </a:r>
          </a:p>
        </p:txBody>
      </p:sp>
    </p:spTree>
    <p:extLst>
      <p:ext uri="{BB962C8B-B14F-4D97-AF65-F5344CB8AC3E}">
        <p14:creationId xmlns:p14="http://schemas.microsoft.com/office/powerpoint/2010/main" val="567948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313BB25-6F8E-4F2E-A91D-6149A9A2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B159196-5942-4E00-863A-707B9359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抽奖流程先拿资格，再算概率，最后发奖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9FAD7-67C6-4E0B-A67E-1627659D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CCD06D-1E86-49AC-AC2A-9057AACE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C613136-7D29-4E94-8CEF-0D9BA156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73A00-9D54-4982-88E6-E1047286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714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AF78E-59CD-4855-8AA3-4512649D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381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EF9940-2BC6-4576-96C7-06FD2DE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创建活动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E0D7DD-33A3-4007-A7EB-E231BD13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活动、策略、奖品配置落库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D0EC7-4D0A-449C-BADE-06C22A5F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95625"/>
            <a:ext cx="2476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4F2FF-18D6-4DCA-8E98-3A2FF569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714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BD7C3-DECE-4F9E-9A88-EE77D36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28875"/>
            <a:ext cx="381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E706C5B-696E-4E06-9296-C88F7205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718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状态流转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B8A0632-5AFF-4A58-B685-7F71936A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185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编辑 → 审核 → 运行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97C10-19A0-4DF7-8B7E-B1006C88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95625"/>
            <a:ext cx="2476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5CC67-7AF0-44B2-964F-586C83B2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1714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78E83-B60A-43B0-9146-F0F51E8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28875"/>
            <a:ext cx="381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1097E2C-DB40-471C-A94C-5D110744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用户参与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5D40B79-E777-49A9-92F5-FD9AB644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7185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校验时间、状态、次数、库存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DE2AF-0591-4381-A4BA-E72CF46F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95625"/>
            <a:ext cx="2476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197C7-8178-48BD-8FE1-C55533A7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8375"/>
            <a:ext cx="1714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09FB1-17D5-48F6-AA7D-D309CB0A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381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C297967-27E0-43F1-A2C9-E296541B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执行抽奖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E742BEA-6FD2-4B61-919C-D900ADB5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按策略算法命中奖品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E5D95-637F-42B2-B445-8F2F1D3E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95625"/>
            <a:ext cx="2476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C0121-BB03-4D8A-9A5C-DF5E2758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1714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B71619-593F-4DCD-AA42-A14F63A1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381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3127BF8-E00B-49DD-A40D-617A5C47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生成发奖单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3C4D3BF-1147-4640-B50C-DBFC7861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7185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26E"/>
                </a:solidFill>
              </a:defRPr>
            </a:pPr>
            <a:r>
              <a:rPr sz="1275" b="0">
                <a:solidFill>
                  <a:srgbClr val="5B626E"/>
                </a:solidFill>
              </a:rPr>
              <a:t>落库并同步或异步发奖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32656C6-BBF1-4109-8159-EE4C7E07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面试表达：主流程不是一次随机数调用，而是资格、库存、策略、订单、发奖的一致性链路</a:t>
            </a:r>
          </a:p>
        </p:txBody>
      </p:sp>
    </p:spTree>
    <p:extLst>
      <p:ext uri="{BB962C8B-B14F-4D97-AF65-F5344CB8AC3E}">
        <p14:creationId xmlns:p14="http://schemas.microsoft.com/office/powerpoint/2010/main" val="1902649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E46A721-71CA-42FE-9B42-D63FCBD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61AA2EC-185A-457C-8E14-5FC0B736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抽奖算法支持成本控制和中奖体验两种取向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BB0C0-6738-4197-8F89-3A118E46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E9E5F4F-415E-4C32-AE70-B32B66CC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FE9189-3181-47CE-AD8D-483E3291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D4FBD-FF1F-4FBF-814B-DF48D2C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9653756-B05D-4657-A85B-DB2B3541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单项概率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BD78B-EACC-496E-8C9B-3FB3D50C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6878DB1-E61D-4E50-B500-99469D47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3686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奖品库存为空时，该奖品命中结果变为未中奖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220F1-CEC4-49A3-B3D8-8E94232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EEE83A4-30D8-4515-A8FF-D5857B91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71875"/>
            <a:ext cx="3686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适合严格控制活动成本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D703B-3829-4AF7-8DFD-5B90406C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881F9B-022A-4F38-9DAD-1169D0E6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33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总体概率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11218-AB6E-4D32-9CA4-E52A249B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28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D724596-D384-48C5-B571-830758BD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52750"/>
            <a:ext cx="3686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排除无库存奖品后，在剩余奖品里重新分布概率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1279F-3905-47E8-965B-A06AED56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48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B3EE52B-C68C-4FF0-A350-C6A4580C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71875"/>
            <a:ext cx="3686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适合提升用户中奖体验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7540F86-21FE-400C-8059-17732C7A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26E"/>
                </a:solidFill>
              </a:defRPr>
            </a:pPr>
            <a:r>
              <a:rPr sz="1500" b="1">
                <a:solidFill>
                  <a:srgbClr val="5B626E"/>
                </a:solidFill>
              </a:rPr>
              <a:t>核心类：SingleRateRandomDrawAlgorithm / EntiretyRateRandomDrawAlgorithm / DrawExecImpl</a:t>
            </a:r>
          </a:p>
        </p:txBody>
      </p:sp>
    </p:spTree>
    <p:extLst>
      <p:ext uri="{BB962C8B-B14F-4D97-AF65-F5344CB8AC3E}">
        <p14:creationId xmlns:p14="http://schemas.microsoft.com/office/powerpoint/2010/main" val="1550635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88376E9-C3C4-4320-8C1D-C8231887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8294C30-98EC-4D3E-8984-A4F7FB88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活动状态机避免非法上线和过期抽奖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52C2A-1DFC-4079-A51D-495C1245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3D13EAC-AAB6-4F11-BB29-2BE15B6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B56F0F-B0C6-47C4-B010-DBA58013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54068-4DE6-4C52-923E-04CF30B8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编辑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8CC49-95C8-46C0-8C66-6225F398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71775"/>
            <a:ext cx="4572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125EA-4426-4145-A029-66942A93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2412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提审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66542-0909-44A1-89B9-23683151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71775"/>
            <a:ext cx="4572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AF9A9-CA3C-457B-8F20-55AE00EB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133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审核通过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58121-65C7-4CDE-97A6-5EB10235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71775"/>
            <a:ext cx="5524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86C19-4EF6-4D5C-B68E-28FB313A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运行中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F0E71-0649-4390-97FD-7E08035B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71775"/>
            <a:ext cx="6477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16B89-2D3F-4AA6-876C-7E949F81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关闭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BDE05-000B-4E45-8B2F-C0A4BA7B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04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7537199-BE78-4408-970A-4F040677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76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状态模式的价值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F820715-63C1-4D02-A108-E56D6FE5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每个状态类只处理自己允许的动作，非法流转默认拒绝；比散落在业务代码里的 if/else 更容易维护和测试。</a:t>
            </a:r>
          </a:p>
        </p:txBody>
      </p:sp>
    </p:spTree>
    <p:extLst>
      <p:ext uri="{BB962C8B-B14F-4D97-AF65-F5344CB8AC3E}">
        <p14:creationId xmlns:p14="http://schemas.microsoft.com/office/powerpoint/2010/main" val="445547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4F0BAEB-533A-43C4-820F-3C3A7A47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C7F60BF-EAC7-4C5B-9897-E7B95DC1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规则树把用户分层从代码里抽出来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AE97B-3B21-4F32-A202-FD21A3F1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7271BD4-3A0D-4C9E-B1E2-FC191793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479680-CCFB-4A4A-B638-2122FEC0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EBD04-CB40-43D4-8667-2074A353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userGender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8C754-3F9F-49C8-BB5C-7D7DD4AB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47875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userAge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27C0-2720-42EF-9EDC-A5777C7A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1333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userAge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74B08-89D9-4675-B095-216F43F9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策略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9E9A1-E53A-43E7-A036-E5D6B64B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策略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DEEA8-DEDA-4492-919C-B898F549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1143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策略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5303E-1FD7-4262-ADB0-00FD7726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10477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2C168-DF1E-44F7-8CAA-0B1A41D0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57475"/>
            <a:ext cx="104775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A2698-17D8-4649-99A3-DB4DA4F3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62175"/>
            <a:ext cx="15240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5A7AC-207E-4F81-A6C1-726B47FA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76475"/>
            <a:ext cx="15240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DB580-29C6-4736-958C-3E851FC5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71850"/>
            <a:ext cx="152400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A1B838D-F054-48B6-BA9F-FD246BD0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新增规则时，优先新增 LogicFilter，而不是改抽奖主流程。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16FE5C2-4763-4B75-8C4D-73BCA061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26E"/>
                </a:solidFill>
              </a:defRPr>
            </a:pPr>
            <a:r>
              <a:rPr sz="1575" b="0">
                <a:solidFill>
                  <a:srgbClr val="5B626E"/>
                </a:solidFill>
              </a:rPr>
              <a:t>示例：年龄、性别可扩展为城市、会员等级、黑名单、人群标签。</a:t>
            </a:r>
          </a:p>
        </p:txBody>
      </p:sp>
    </p:spTree>
    <p:extLst>
      <p:ext uri="{BB962C8B-B14F-4D97-AF65-F5344CB8AC3E}">
        <p14:creationId xmlns:p14="http://schemas.microsoft.com/office/powerpoint/2010/main" val="4838232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DBF0183-3A11-479B-B264-70AF800B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0BF83B8-DA8F-47C6-8127-6E1DE2DE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库存并发的目标是不超卖，异常可补偿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16E71-7A26-4B16-82E0-FAD851AC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8671C9-8433-4104-A7F2-418B3689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6265F2-04D2-44ED-916F-089DDB92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071BF-5186-4B16-B36B-1740DE03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1A1E83-5A55-4AF4-886E-B5F95F12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活动资格库存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C31C8-7E4A-482D-9E65-7BF9A80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81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5563FEB-8C8A-443B-8CA5-8C40813D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051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Redis incr 预占活动库存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C9976-6643-48DF-93AC-1119409F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76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3DFC331-B399-4033-A03C-FDA750EB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004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超过库存立即 decr 回滚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54F50-17A5-41D9-9717-C18A6E55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B445E67-AC30-4A1B-BDF2-265704AF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957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setNx 库存 token 防重复占位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9F8AE-33B9-4920-960A-74D74B5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67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CB37C43-9E1C-4138-BE39-1C541422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91025"/>
            <a:ext cx="382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数据库保存参与记录和发奖单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B975D-DF4C-446E-80C7-800A3EED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000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858AFAF-4F7C-4BE3-B00A-27C49937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兜底机制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0D458-635F-4425-ACAD-ECA60603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76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64E1678-F76B-46C4-B7C1-30312778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037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Redis 失败：拒绝参与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81D7-1A80-4AFD-A378-960F4618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48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E63D90C-3731-40EB-835D-FB957072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7187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数据库失败：删除 token 补偿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D8C58-DECC-41D1-8753-8AEEB37B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9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4459B47-67E1-4019-A50B-98BFDA1A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4337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极端异常：定时对账修复</a:t>
            </a:r>
          </a:p>
        </p:txBody>
      </p:sp>
    </p:spTree>
    <p:extLst>
      <p:ext uri="{BB962C8B-B14F-4D97-AF65-F5344CB8AC3E}">
        <p14:creationId xmlns:p14="http://schemas.microsoft.com/office/powerpoint/2010/main" val="1751388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4652467-2E38-432E-A9C9-BF4A5E2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B4553EE-299C-4343-BF84-DF937D7C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高增长数据分散写入，发奖链路异步补偿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EFCFE-6569-49A8-ADD1-4BBB903B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4F770E-FC89-4535-B4A7-774B167D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D4B34D-F684-4619-B1E0-BC5A18E4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23FEB-2483-4042-8776-F3ABD6BF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DD61DD1-37A6-4491-AE5F-C6818BC9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分库分表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3029D-1F1B-4ECF-B149-363BC322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28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EA5E06-46B5-4EF9-8C92-E5C61116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5275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主库保存活动、策略、奖品、规则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CA6DD-7803-45E5-B3F4-FAB02B1C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52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1EDF048-A7CC-4C1E-ACE3-4165ECE6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用户参与与发奖流水按 uId 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670A4-28A1-48B0-A0F9-D7982DB7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D9452E7-19A6-4A31-A346-0DCF1F3A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005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@DBRouter + AOP + 动态数据源 + MyBatis 拦截器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909BF-5553-4C5E-A9FD-F1C17F05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C131F06-B740-43E4-9FCF-00123894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消息与任务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B67EA-B0A1-438B-826C-E33A11B7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28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739261E-292E-4A15-881B-AEFD4E17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5275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Kafka 解耦抽奖与发奖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1C4CD-33D2-439F-9323-725CAB3A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552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13F2915-BB6F-432D-A442-11C2F59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MQ 状态支持失败重试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98312-F37A-4D0A-A2BD-30F5D116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076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8FB8CF5-C878-4B1A-A227-0AD2307F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005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XXL-Job 扫描活动状态和待补偿消息</a:t>
            </a:r>
          </a:p>
        </p:txBody>
      </p:sp>
    </p:spTree>
    <p:extLst>
      <p:ext uri="{BB962C8B-B14F-4D97-AF65-F5344CB8AC3E}">
        <p14:creationId xmlns:p14="http://schemas.microsoft.com/office/powerpoint/2010/main" val="10902442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10A6444-103B-45AF-AF66-7E45CE99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D72FB0F-89A3-4979-AD8F-F70EB7F6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面试时可以用这些证据证明项目可运行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2AF93-4979-42D7-90CC-17401B57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AE0BC89-BCCD-4AC9-AE9D-1BF4E314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44DB27-7882-4547-BED1-BED5BB5E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A7B1B-0F4D-4907-9614-61119AA2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FAFAF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8DF982-3170-411F-81E5-624FBCCC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本地启动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393DB73-454A-4915-8626-CAAA3E25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scripts/start-local.ps1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368B0EF-FF1D-4ADF-AC91-53D9734E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26E"/>
                </a:solidFill>
              </a:defRPr>
            </a:pPr>
            <a:r>
              <a:rPr sz="1425" b="0">
                <a:solidFill>
                  <a:srgbClr val="5B626E"/>
                </a:solidFill>
              </a:rPr>
              <a:t>一键启动 Spring Boot + 本地 UI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9140682-45A6-4948-A3B4-321398F0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数据库初始化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C2D8217-8806-4F4B-96A5-8213246A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scripts/init-db.ps1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060ABF3-AD09-44F5-9130-AEFA909E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26E"/>
                </a:solidFill>
              </a:defRPr>
            </a:pPr>
            <a:r>
              <a:rPr sz="1425" b="0">
                <a:solidFill>
                  <a:srgbClr val="5B626E"/>
                </a:solidFill>
              </a:rPr>
              <a:t>创建 lottery、lottery_01、lottery_02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0757F-C7C2-44FC-953A-34C51688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FAFAFA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FEAD45A-E009-40A9-9823-F8D6077E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接口冒烟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8A5926E-BB92-453C-A29F-8AFFB12C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scripts/smoke-test.ps1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EC99D54-49A9-407E-9CF9-AED8AE9F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26E"/>
                </a:solidFill>
              </a:defRPr>
            </a:pPr>
            <a:r>
              <a:rPr sz="1425" b="0">
                <a:solidFill>
                  <a:srgbClr val="5B626E"/>
                </a:solidFill>
              </a:rPr>
              <a:t>健康检查、诊断、活动、抽奖等接口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D434F20-C028-46A8-8FC4-79C48668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项目讲解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BD80275-2B8C-47AF-9346-9AD8DC15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PROJECT-FILES-GUIDE.md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EA57F8-EEB2-42E6-A685-E2D2215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26E"/>
                </a:solidFill>
              </a:defRPr>
            </a:pPr>
            <a:r>
              <a:rPr sz="1425" b="0">
                <a:solidFill>
                  <a:srgbClr val="5B626E"/>
                </a:solidFill>
              </a:rPr>
              <a:t>模块和文件级说明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CA90F-B821-4198-BE6C-695A4CF1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FAFAF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A874B78-9702-484B-84BD-1011F7EA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面试问答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83261D7-F2ED-44C8-9BD0-A1FAD547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PROJECT-INTERVIEW-QA.md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D6F2B12-B120-4249-84E1-2605F59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26E"/>
                </a:solidFill>
              </a:defRPr>
            </a:pPr>
            <a:r>
              <a:rPr sz="1425" b="0">
                <a:solidFill>
                  <a:srgbClr val="5B626E"/>
                </a:solidFill>
              </a:rPr>
              <a:t>技术追问和答案</a:t>
            </a:r>
          </a:p>
        </p:txBody>
      </p:sp>
    </p:spTree>
    <p:extLst>
      <p:ext uri="{BB962C8B-B14F-4D97-AF65-F5344CB8AC3E}">
        <p14:creationId xmlns:p14="http://schemas.microsoft.com/office/powerpoint/2010/main" val="2948637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C2E780B-674A-44AF-A0C5-2C87AA58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PROJECT INTERVIEW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4EFF439-8C69-460F-AE83-F2B0B80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最后把能力落到面试官关心的问题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A6BF3-4F43-43B7-A5C3-2DCC4449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3CED469-5B8F-44D4-88A3-E1AC3C81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Lottery 抽奖系统项目介绍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04F494-0C62-478F-A861-58D61503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26E"/>
                </a:solidFill>
              </a:defRPr>
            </a:pPr>
            <a:r>
              <a:rPr sz="975" b="0">
                <a:solidFill>
                  <a:srgbClr val="5B626E"/>
                </a:solidFill>
              </a:rPr>
              <a:t>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44F671-ACB1-4EC3-AF7F-EC8DD60C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我能重点展开的 5 个方向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8BDEA-894C-4364-BF88-5E3DCE6F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4E817D-5364-487A-BBBF-B75A7000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81300"/>
            <a:ext cx="573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DDD 分层和模块边界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07205-BDBA-4F3F-9D08-03FAB178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14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2F1572-32BB-4A16-81DE-FEA91561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38500"/>
            <a:ext cx="573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抽奖算法与概率模型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54EB9-6DCA-449D-9519-42951D3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7C81A6D-27BD-4798-B2D1-AF61473C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95700"/>
            <a:ext cx="573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Redis + MySQL 的库存一致性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A3342-CDD8-492D-A11B-24421421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29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4E62B9D-4FD5-49A3-91C1-88A27A80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52900"/>
            <a:ext cx="573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规则树和状态机的扩展性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3ECFB-6C6F-4243-AFB2-925A79B1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8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F7778BC-5273-4528-99A9-057AD525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610100"/>
            <a:ext cx="573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Kafka + XXL-Job 的最终一致性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33C4B-8FE9-44B5-875A-BABAEC8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20242B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A08B049-B94F-4DB9-A83E-B9A98834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收束表达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F3B9764-E141-4EA8-9ACC-0A418DC3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这个项目不是只展示功能，而是展示我对业务建模、并发控制和工程落地的理解。</a:t>
            </a:r>
          </a:p>
        </p:txBody>
      </p:sp>
    </p:spTree>
    <p:extLst>
      <p:ext uri="{BB962C8B-B14F-4D97-AF65-F5344CB8AC3E}">
        <p14:creationId xmlns:p14="http://schemas.microsoft.com/office/powerpoint/2010/main" val="165651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2026-08-18T08:08:29.7060000Z</dcterms:created>
  <dcterms:modified xsi:type="dcterms:W3CDTF">2026-08-18T08:08:29.7060000Z</dcterms:modified>
</coreProperties>
</file>